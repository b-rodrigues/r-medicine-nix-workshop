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-rodrigues.github.io/r-medicine-nix-workshop" TargetMode="External" /><Relationship Id="rId3" Type="http://schemas.openxmlformats.org/officeDocument/2006/relationships/hyperlink" Target="https://github.com/b-rodrigues/r-medicine-nix-workshop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ocker-project.org/images/versioned/r-ver.html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cs.ropensci.org/rix/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cs.ropensci.org/rix/articles/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b-rodrigues/rix_paper/tree/master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ix.dev/manual/nix/2.25/language/derivations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b-rodrigues/rixpress" TargetMode="External" /><Relationship Id="rId3" Type="http://schemas.openxmlformats.org/officeDocument/2006/relationships/hyperlink" Target="https://b-rodrigues.github.io/rixpress/" TargetMode="External" /><Relationship Id="rId4" Type="http://schemas.openxmlformats.org/officeDocument/2006/relationships/hyperlink" Target="https://github.com/b-rodrigues/rixpress_demos" TargetMode="Externa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x.com/brodriguesco" TargetMode="External" /><Relationship Id="rId3" Type="http://schemas.openxmlformats.org/officeDocument/2006/relationships/hyperlink" Target="https://fosstodon.org/@brodriguesco" TargetMode="External" /><Relationship Id="rId4" Type="http://schemas.openxmlformats.org/officeDocument/2006/relationships/hyperlink" Target="https://brodrigues.co/" TargetMode="External" /><Relationship Id="rId5" Type="http://schemas.openxmlformats.org/officeDocument/2006/relationships/hyperlink" Target="https://raps-with-r.dev/" TargetMode="External" /><Relationship Id="rId6" Type="http://schemas.openxmlformats.org/officeDocument/2006/relationships/hyperlink" Target="https://docs.ropensci.org/rix" TargetMode="External" /><Relationship Id="rId7" Type="http://schemas.openxmlformats.org/officeDocument/2006/relationships/hyperlink" Target="https://b-rodrigues.github.io/rixpres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Reproducible environments and pipelines with </a:t>
            </a:r>
            <a:r>
              <a:rPr>
                <a:latin typeface="Courier"/>
              </a:rPr>
              <a:t>{rix}</a:t>
            </a:r>
            <a:r>
              <a:rPr/>
              <a:t> and </a:t>
            </a:r>
            <a:r>
              <a:rPr>
                <a:latin typeface="Courier"/>
              </a:rPr>
              <a:t>{rixpress}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Bruno Rodrigues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Who am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Bruno Rodrigues, head of the statistics department at the Ministry of Research and Higher Education in Luxembourg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Who am I</a:t>
            </a:r>
          </a:p>
        </p:txBody>
      </p:sp>
      <p:pic>
        <p:nvPicPr>
          <p:cNvPr descr="images/luxembour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97000"/>
            <a:ext cx="82296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Who am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available online: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https://b-rodrigues.github.io/r-medicine-nix-workshop</a:t>
            </a:r>
          </a:p>
          <a:p>
            <a:pPr lvl="0" indent="0" marL="0">
              <a:buNone/>
            </a:pPr>
            <a:r>
              <a:rPr/>
              <a:t>Code available here: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https://github.com/b-rodrigues/r-medicine-nix-workshop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I’ll talk about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Identify </a:t>
            </a:r>
            <a:r>
              <a:rPr i="1"/>
              <a:t>what</a:t>
            </a:r>
            <a:r>
              <a:rPr/>
              <a:t> needs to be mastered to ensure reproducibility (ability to obtain </a:t>
            </a:r>
            <a:r>
              <a:rPr i="1"/>
              <a:t>exactly</a:t>
            </a:r>
            <a:r>
              <a:rPr/>
              <a:t> the same results from an analysis)</a:t>
            </a:r>
          </a:p>
          <a:p>
            <a:pPr lvl="0"/>
            <a:r>
              <a:rPr/>
              <a:t>Briefly introduce Nix, </a:t>
            </a:r>
            <a:r>
              <a:rPr>
                <a:latin typeface="Courier"/>
              </a:rPr>
              <a:t>{rix}</a:t>
            </a:r>
            <a:r>
              <a:rPr/>
              <a:t>, and </a:t>
            </a:r>
            <a:r>
              <a:rPr>
                <a:latin typeface="Courier"/>
              </a:rPr>
              <a:t>{rixpress}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1: Reproducible environments for data science with {rix}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Available solutions for R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{renv}</a:t>
            </a:r>
            <a:r>
              <a:rPr/>
              <a:t> or </a:t>
            </a:r>
            <a:r>
              <a:rPr>
                <a:latin typeface="Courier"/>
              </a:rPr>
              <a:t>{groundhog}</a:t>
            </a:r>
            <a:r>
              <a:rPr/>
              <a:t>: simple to use, but:</a:t>
            </a:r>
          </a:p>
          <a:p>
            <a:pPr lvl="1"/>
            <a:r>
              <a:rPr/>
              <a:t>Doesn’t save the R version</a:t>
            </a:r>
          </a:p>
          <a:p>
            <a:pPr lvl="1"/>
            <a:r>
              <a:rPr/>
              <a:t>Installing old packages may fail (system dependencies)</a:t>
            </a:r>
          </a:p>
          <a:p>
            <a:pPr lvl="0"/>
            <a:r>
              <a:rPr/>
              <a:t>Docker goes further:</a:t>
            </a:r>
          </a:p>
          <a:p>
            <a:pPr lvl="1"/>
            <a:r>
              <a:rPr/>
              <a:t>Manages R </a:t>
            </a:r>
            <a:r>
              <a:rPr i="1"/>
              <a:t>and</a:t>
            </a:r>
            <a:r>
              <a:rPr/>
              <a:t> system dependencies</a:t>
            </a:r>
          </a:p>
          <a:p>
            <a:pPr lvl="1"/>
            <a:r>
              <a:rPr/>
              <a:t>Uses immutable and shareable images</a:t>
            </a:r>
          </a:p>
          <a:p>
            <a:pPr lvl="1"/>
            <a:r>
              <a:rPr/>
              <a:t>Containers executable anywhere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Available solutions for R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Docker limitations:</a:t>
            </a:r>
          </a:p>
          <a:p>
            <a:pPr lvl="1"/>
            <a:r>
              <a:rPr/>
              <a:t>Learning curve (Linux knowledge recommended)</a:t>
            </a:r>
          </a:p>
          <a:p>
            <a:pPr lvl="1"/>
            <a:r>
              <a:rPr/>
              <a:t>Not originally designed for reproducibility</a:t>
            </a:r>
          </a:p>
          <a:p>
            <a:pPr lvl="1"/>
            <a:r>
              <a:rPr/>
              <a:t>See: </a:t>
            </a:r>
            <a:r>
              <a:rPr>
                <a:hlinkClick r:id="rId2"/>
              </a:rPr>
              <a:t>Rocker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Nix package manager (1/2)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Package manager: tool for installing and managing </a:t>
            </a:r>
            <a:r>
              <a:rPr i="1"/>
              <a:t>packages</a:t>
            </a:r>
          </a:p>
          <a:p>
            <a:pPr lvl="0" indent="0" marL="0">
              <a:buNone/>
            </a:pPr>
            <a:r>
              <a:rPr/>
              <a:t>Package: any software (not just R packages)</a:t>
            </a:r>
          </a:p>
          <a:p>
            <a:pPr lvl="0" indent="0" marL="0">
              <a:buNone/>
            </a:pPr>
            <a:r>
              <a:rPr/>
              <a:t>A popular package manager:</a:t>
            </a:r>
          </a:p>
          <a:p>
            <a:pPr lvl="0" indent="0" marL="0">
              <a:buNone/>
            </a:pPr>
            <a:r>
              <a:rPr/>
              <a:t>. . .</a:t>
            </a:r>
          </a:p>
        </p:txBody>
      </p:sp>
      <p:pic>
        <p:nvPicPr>
          <p:cNvPr descr="images/play_sto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45100" y="203200"/>
            <a:ext cx="17399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Google Play Store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Nix package manager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ensure reproducibility: R, R packages, and other dependencies must be explicitly managed</a:t>
            </a:r>
          </a:p>
          <a:p>
            <a:pPr lvl="0"/>
            <a:r>
              <a:rPr/>
              <a:t>Nix is a package manager truly focused on reproducible builds</a:t>
            </a:r>
          </a:p>
          <a:p>
            <a:pPr lvl="0"/>
            <a:r>
              <a:rPr/>
              <a:t>Nix manages everything using a single text file (called a Nix expression)!</a:t>
            </a:r>
          </a:p>
          <a:p>
            <a:pPr lvl="0"/>
            <a:r>
              <a:rPr/>
              <a:t>These expressions </a:t>
            </a:r>
            <a:r>
              <a:rPr i="1"/>
              <a:t>always</a:t>
            </a:r>
            <a:r>
              <a:rPr/>
              <a:t> produce exactly the same result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rix: reproducible development environments with Nix (1/5)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{rix}</a:t>
            </a:r>
            <a:r>
              <a:rPr/>
              <a:t> (</a:t>
            </a:r>
            <a:r>
              <a:rPr>
                <a:hlinkClick r:id="rId2"/>
              </a:rPr>
              <a:t>website</a:t>
            </a:r>
            <a:r>
              <a:rPr/>
              <a:t>) simplifies writing Nix expressions!</a:t>
            </a:r>
          </a:p>
          <a:p>
            <a:pPr lvl="0"/>
            <a:r>
              <a:rPr/>
              <a:t>Just use the provided </a:t>
            </a:r>
            <a:r>
              <a:rPr>
                <a:latin typeface="Courier"/>
              </a:rPr>
              <a:t>rix()</a:t>
            </a:r>
            <a:r>
              <a:rPr/>
              <a:t> function: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(rix)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"2025-06-02"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"dplyr"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"ggplot2"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system_pkgs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git_pkgs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tex_pkgs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project_path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rix: reproducible development environments with Nix (2/5)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renv.lock</a:t>
            </a:r>
            <a:r>
              <a:rPr/>
              <a:t> files can also serve as a starting point: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(rix)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renv2nix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renv_lock_path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"path/to/original/renv_project/renv.lock"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project_path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"path/to/rix_project"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override_r_ver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"4.4.1"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&lt;- optional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rix: reproducible development environments with Nix (3/5)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 the R version and required packages</a:t>
            </a:r>
          </a:p>
          <a:p>
            <a:pPr lvl="0"/>
            <a:r>
              <a:rPr/>
              <a:t>Optionally:</a:t>
            </a:r>
          </a:p>
          <a:p>
            <a:pPr lvl="1"/>
            <a:r>
              <a:rPr/>
              <a:t>system packages, GitHub packages, or LaTeX packages</a:t>
            </a:r>
          </a:p>
          <a:p>
            <a:pPr lvl="1"/>
            <a:r>
              <a:rPr/>
              <a:t>an IDE (RStudio, Radian, VS Code, or “other”)</a:t>
            </a:r>
          </a:p>
          <a:p>
            <a:pPr lvl="1"/>
            <a:r>
              <a:rPr/>
              <a:t>a version of Python and Python packages to include</a:t>
            </a:r>
          </a:p>
          <a:p>
            <a:pPr lvl="1"/>
            <a:r>
              <a:rPr/>
              <a:t>a version of Julia and Julia packages to include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rix: reproducible development environments with Nix (4/5)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rix::rix()</a:t>
            </a:r>
            <a:r>
              <a:rPr/>
              <a:t> generates a </a:t>
            </a:r>
            <a:r>
              <a:rPr>
                <a:latin typeface="Courier"/>
              </a:rPr>
              <a:t>default.nix</a:t>
            </a:r>
            <a:r>
              <a:rPr/>
              <a:t> file</a:t>
            </a:r>
          </a:p>
          <a:p>
            <a:pPr lvl="0"/>
            <a:r>
              <a:rPr/>
              <a:t>Build the expressions with </a:t>
            </a:r>
            <a:r>
              <a:rPr>
                <a:latin typeface="Courier"/>
              </a:rPr>
              <a:t>nix-build</a:t>
            </a:r>
            <a:r>
              <a:rPr/>
              <a:t> (in terminal) or </a:t>
            </a:r>
            <a:r>
              <a:rPr>
                <a:latin typeface="Courier"/>
              </a:rPr>
              <a:t>rix::nix_build()</a:t>
            </a:r>
            <a:r>
              <a:rPr/>
              <a:t> from R</a:t>
            </a:r>
          </a:p>
          <a:p>
            <a:pPr lvl="0"/>
            <a:r>
              <a:rPr/>
              <a:t>Access the development environment with </a:t>
            </a:r>
            <a:r>
              <a:rPr>
                <a:latin typeface="Courier"/>
              </a:rPr>
              <a:t>nix-shell</a:t>
            </a:r>
          </a:p>
          <a:p>
            <a:pPr lvl="0"/>
            <a:r>
              <a:rPr/>
              <a:t>Expressions can be generated even without Nix installed (with some limitations)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rix: reproducible development environments with Nix (5/5)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install specific versions of packages (write </a:t>
            </a:r>
            <a:r>
              <a:rPr>
                <a:latin typeface="Courier"/>
              </a:rPr>
              <a:t>"dplyr@1.0.0"</a:t>
            </a:r>
            <a:r>
              <a:rPr/>
              <a:t>)</a:t>
            </a:r>
          </a:p>
          <a:p>
            <a:pPr lvl="0"/>
            <a:r>
              <a:rPr/>
              <a:t>Can install packages hosted on GitHub</a:t>
            </a:r>
          </a:p>
          <a:p>
            <a:pPr lvl="0"/>
            <a:r>
              <a:rPr/>
              <a:t>Many vignettes to get started! </a:t>
            </a:r>
            <a:r>
              <a:rPr>
                <a:hlinkClick r:id="rId2"/>
              </a:rPr>
              <a:t>See here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Basics: </a:t>
            </a:r>
            <a:r>
              <a:rPr>
                <a:latin typeface="Courier"/>
              </a:rPr>
              <a:t>scripts/nix_expressions/rix_intro/</a:t>
            </a:r>
          </a:p>
          <a:p>
            <a:pPr lvl="0"/>
            <a:r>
              <a:rPr/>
              <a:t>Nix and </a:t>
            </a:r>
            <a:r>
              <a:rPr>
                <a:latin typeface="Courier"/>
              </a:rPr>
              <a:t>{targets}</a:t>
            </a:r>
            <a:r>
              <a:rPr/>
              <a:t>: </a:t>
            </a:r>
            <a:r>
              <a:rPr>
                <a:latin typeface="Courier"/>
              </a:rPr>
              <a:t>scripts/nix_expressions/nix_targets_pipeline</a:t>
            </a:r>
          </a:p>
          <a:p>
            <a:pPr lvl="0"/>
            <a:r>
              <a:rPr/>
              <a:t>Nix and Docker: </a:t>
            </a:r>
            <a:r>
              <a:rPr>
                <a:latin typeface="Courier"/>
              </a:rPr>
              <a:t>scripts/nix_expressions/docker/</a:t>
            </a:r>
          </a:p>
          <a:p>
            <a:pPr lvl="0"/>
            <a:r>
              <a:rPr/>
              <a:t>Nix and </a:t>
            </a:r>
            <a:r>
              <a:rPr>
                <a:latin typeface="Courier"/>
              </a:rPr>
              <a:t>{shiny}</a:t>
            </a:r>
            <a:r>
              <a:rPr/>
              <a:t>: </a:t>
            </a:r>
            <a:r>
              <a:rPr>
                <a:latin typeface="Courier"/>
              </a:rPr>
              <a:t>scripts/nix_expression/shiny</a:t>
            </a:r>
          </a:p>
          <a:p>
            <a:pPr lvl="0"/>
            <a:r>
              <a:rPr/>
              <a:t>GitHub Actions: </a:t>
            </a:r>
            <a:r>
              <a:rPr>
                <a:hlinkClick r:id="rId2"/>
              </a:rPr>
              <a:t>see here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2: Reproducible analytical pipelines with </a:t>
            </a:r>
            <a:r>
              <a:rPr>
                <a:latin typeface="Courier"/>
              </a:rPr>
              <a:t>{rixpress}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 (1/3)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Nix is actually more than just a mere package manager</a:t>
            </a:r>
          </a:p>
          <a:p>
            <a:pPr lvl="0"/>
            <a:r>
              <a:rPr/>
              <a:t>Nix is complete end-to-end build tool that leverages functional programming principles to ensure reproducible builds</a:t>
            </a:r>
          </a:p>
          <a:p>
            <a:pPr lvl="0"/>
            <a:r>
              <a:rPr/>
              <a:t>Users write Nix expressions which are then translated into Nix derivations</a:t>
            </a:r>
          </a:p>
          <a:p>
            <a:pPr lvl="0"/>
            <a:r>
              <a:rPr/>
              <a:t>Derivation: </a:t>
            </a:r>
            <a:r>
              <a:rPr i="1"/>
              <a:t>a specification for running an executable on precisely defined input files to repeatably produce output files at uniquely determined file system paths.</a:t>
            </a:r>
            <a:r>
              <a:rPr/>
              <a:t> (</a:t>
            </a:r>
            <a:r>
              <a:rPr>
                <a:hlinkClick r:id="rId2"/>
              </a:rPr>
              <a:t>source</a:t>
            </a:r>
            <a:r>
              <a:rPr/>
              <a:t>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 (2/3)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Essentially: a derivation is a recipe with precisely defined inputs, steps, and a fixed output.</a:t>
            </a:r>
          </a:p>
          <a:p>
            <a:pPr lvl="0"/>
            <a:r>
              <a:rPr/>
              <a:t>Given identical inputs and build steps → always produce exact same output</a:t>
            </a:r>
          </a:p>
          <a:p>
            <a:pPr lvl="0"/>
            <a:r>
              <a:rPr/>
              <a:t>All inputs to a derivation must be explicitly declared.</a:t>
            </a:r>
          </a:p>
          <a:p>
            <a:pPr lvl="0"/>
            <a:r>
              <a:rPr/>
              <a:t>Inputs include not just data files, but also software dependencies, configuration flags, and environment variables, essentially anything necessary for the build process.</a:t>
            </a:r>
          </a:p>
          <a:p>
            <a:pPr lvl="0"/>
            <a:r>
              <a:rPr/>
              <a:t>The build process takes place in a </a:t>
            </a:r>
            <a:r>
              <a:rPr i="1"/>
              <a:t>hermetic</a:t>
            </a:r>
            <a:r>
              <a:rPr/>
              <a:t> sandbox to ensure the exact same output is always produced.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 (3/3)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{rix}</a:t>
            </a:r>
            <a:r>
              <a:rPr/>
              <a:t>: output is a </a:t>
            </a:r>
            <a:r>
              <a:rPr i="1"/>
              <a:t>shell</a:t>
            </a:r>
            <a:r>
              <a:rPr/>
              <a:t> that contains required software</a:t>
            </a:r>
          </a:p>
          <a:p>
            <a:pPr lvl="0"/>
            <a:r>
              <a:rPr>
                <a:latin typeface="Courier"/>
              </a:rPr>
              <a:t>{rixpress}</a:t>
            </a:r>
            <a:r>
              <a:rPr/>
              <a:t>: output is whatever is the output of your pipeline (cleaned dataset, Quarto/Rmd document, model predictions, model parameters/weights, model itself…)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rixpress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{rixpress}</a:t>
            </a:r>
            <a:r>
              <a:rPr/>
              <a:t> allows chaining processing steps in R </a:t>
            </a:r>
            <a:r>
              <a:rPr b="1"/>
              <a:t>and</a:t>
            </a:r>
            <a:r>
              <a:rPr/>
              <a:t> Python</a:t>
            </a:r>
          </a:p>
          <a:p>
            <a:pPr lvl="0"/>
            <a:r>
              <a:rPr/>
              <a:t>Uses </a:t>
            </a:r>
            <a:r>
              <a:rPr>
                <a:latin typeface="Courier"/>
              </a:rPr>
              <a:t>{rix}</a:t>
            </a:r>
            <a:r>
              <a:rPr/>
              <a:t> to create a reproducible (via Nix) execution environment for the pipeline</a:t>
            </a:r>
          </a:p>
          <a:p>
            <a:pPr lvl="0"/>
            <a:r>
              <a:rPr/>
              <a:t>Each pipeline step is a </a:t>
            </a:r>
            <a:r>
              <a:rPr b="1"/>
              <a:t>Nix derivation</a:t>
            </a:r>
          </a:p>
          <a:p>
            <a:pPr lvl="0"/>
            <a:r>
              <a:rPr/>
              <a:t>Data transfer: automatic via </a:t>
            </a:r>
            <a:r>
              <a:rPr>
                <a:latin typeface="Courier"/>
              </a:rPr>
              <a:t>reticulate</a:t>
            </a:r>
            <a:r>
              <a:rPr/>
              <a:t> or universal format (CSV, JSON, Parquet…)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example of a polyglot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rxp_py_file</a:t>
            </a:r>
            <a:r>
              <a:rPr>
                <a:solidFill>
                  <a:srgbClr val="003B4F"/>
                </a:solidFill>
                <a:latin typeface="Courier"/>
              </a:rPr>
              <a:t>(…),    </a:t>
            </a:r>
            <a:r>
              <a:rPr>
                <a:solidFill>
                  <a:srgbClr val="5E5E5E"/>
                </a:solidFill>
                <a:latin typeface="Courier"/>
              </a:rPr>
              <a:t># Read a CSV with Python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</a:t>
            </a:r>
            <a:r>
              <a:rPr>
                <a:solidFill>
                  <a:srgbClr val="003B4F"/>
                </a:solidFill>
                <a:latin typeface="Courier"/>
              </a:rPr>
              <a:t>(…),         </a:t>
            </a:r>
            <a:r>
              <a:rPr>
                <a:solidFill>
                  <a:srgbClr val="5E5E5E"/>
                </a:solidFill>
                <a:latin typeface="Courier"/>
              </a:rPr>
              <a:t># Filter with Polars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rxp_py2r</a:t>
            </a:r>
            <a:r>
              <a:rPr>
                <a:solidFill>
                  <a:srgbClr val="003B4F"/>
                </a:solidFill>
                <a:latin typeface="Courier"/>
              </a:rPr>
              <a:t>(…),       </a:t>
            </a:r>
            <a:r>
              <a:rPr>
                <a:solidFill>
                  <a:srgbClr val="5E5E5E"/>
                </a:solidFill>
                <a:latin typeface="Courier"/>
              </a:rPr>
              <a:t># Python → R transfer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rxp_r</a:t>
            </a:r>
            <a:r>
              <a:rPr>
                <a:solidFill>
                  <a:srgbClr val="003B4F"/>
                </a:solidFill>
                <a:latin typeface="Courier"/>
              </a:rPr>
              <a:t>(…),          </a:t>
            </a:r>
            <a:r>
              <a:rPr>
                <a:solidFill>
                  <a:srgbClr val="5E5E5E"/>
                </a:solidFill>
                <a:latin typeface="Courier"/>
              </a:rPr>
              <a:t># Transformation in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rxp_r2py</a:t>
            </a:r>
            <a:r>
              <a:rPr>
                <a:solidFill>
                  <a:srgbClr val="003B4F"/>
                </a:solidFill>
                <a:latin typeface="Courier"/>
              </a:rPr>
              <a:t>(…),       </a:t>
            </a:r>
            <a:r>
              <a:rPr>
                <a:solidFill>
                  <a:srgbClr val="5E5E5E"/>
                </a:solidFill>
                <a:latin typeface="Courier"/>
              </a:rPr>
              <a:t># R → Python transfer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</a:t>
            </a:r>
            <a:r>
              <a:rPr>
                <a:solidFill>
                  <a:srgbClr val="003B4F"/>
                </a:solidFill>
                <a:latin typeface="Courier"/>
              </a:rPr>
              <a:t>(…),         </a:t>
            </a:r>
            <a:r>
              <a:rPr>
                <a:solidFill>
                  <a:srgbClr val="5E5E5E"/>
                </a:solidFill>
                <a:latin typeface="Courier"/>
              </a:rPr>
              <a:t># Another Python step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rxp_py2r</a:t>
            </a:r>
            <a:r>
              <a:rPr>
                <a:solidFill>
                  <a:srgbClr val="003B4F"/>
                </a:solidFill>
                <a:latin typeface="Courier"/>
              </a:rPr>
              <a:t>(…),       </a:t>
            </a:r>
            <a:r>
              <a:rPr>
                <a:solidFill>
                  <a:srgbClr val="5E5E5E"/>
                </a:solidFill>
                <a:latin typeface="Courier"/>
              </a:rPr>
              <a:t># Back 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rxp_r</a:t>
            </a:r>
            <a:r>
              <a:rPr>
                <a:solidFill>
                  <a:srgbClr val="003B4F"/>
                </a:solidFill>
                <a:latin typeface="Courier"/>
              </a:rPr>
              <a:t>(…)           </a:t>
            </a:r>
            <a:r>
              <a:rPr>
                <a:solidFill>
                  <a:srgbClr val="5E5E5E"/>
                </a:solidFill>
                <a:latin typeface="Courier"/>
              </a:rPr>
              <a:t># Final step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rixpress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/>
            <a:r>
              <a:rPr/>
              <a:t>Each step is named and typed (</a:t>
            </a:r>
            <a:r>
              <a:rPr>
                <a:latin typeface="Courier"/>
              </a:rPr>
              <a:t>py</a:t>
            </a:r>
            <a:r>
              <a:rPr/>
              <a:t>, </a:t>
            </a:r>
            <a:r>
              <a:rPr>
                <a:latin typeface="Courier"/>
              </a:rPr>
              <a:t>r</a:t>
            </a:r>
            <a:r>
              <a:rPr/>
              <a:t>, </a:t>
            </a:r>
            <a:r>
              <a:rPr>
                <a:latin typeface="Courier"/>
              </a:rPr>
              <a:t>r2py</a:t>
            </a:r>
            <a:r>
              <a:rPr/>
              <a:t>, etc.)</a:t>
            </a:r>
          </a:p>
          <a:p>
            <a:pPr lvl="0"/>
            <a:r>
              <a:rPr/>
              <a:t>Ability to add files (</a:t>
            </a:r>
            <a:r>
              <a:rPr>
                <a:latin typeface="Courier"/>
              </a:rPr>
              <a:t>functions.R</a:t>
            </a:r>
            <a:r>
              <a:rPr/>
              <a:t>, images…)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Defining a derivation (input data)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rxp_r_file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mtcars,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path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'data/mtcars.csv'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read_function =</a:t>
            </a:r>
            <a:r>
              <a:rPr>
                <a:solidFill>
                  <a:srgbClr val="003B4F"/>
                </a:solidFill>
                <a:latin typeface="Courier"/>
              </a:rPr>
              <a:t> \(x) (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file =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"|"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Defining a derivation (some computation)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rxp_r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filtered_mtcars,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expr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(mtcars, 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structure of a rixpress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.
├── data
│   └── dataset.csv    # input data (can be many files)
├── functions.py       # user-defined Python functions
├── functions.R        # user-defined R function
├── gen-env.R          # rix script to generate execution env
├── gen-pipeline.R     # rixpress script to generate pipeline
├── my_paper           # folder containing Quarto doc
│   ├── section.qmd    # Qmd file
│   ├── images         # Folder containing images for document
│   │   └── graph.png  # Image to add to paper
│   └── main.qmd       # Main Qmd file
└── Readme.md          # Readme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Defining Quarto or Rmd documents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</a:t>
            </a:r>
            <a:r>
              <a:rPr>
                <a:latin typeface="Courier"/>
              </a:rPr>
              <a:t>rxp_read()</a:t>
            </a:r>
            <a:r>
              <a:rPr/>
              <a:t> to include pipeline outputs: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rixpress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rxp_read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"mtcars_head"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All created objects can be dynamically loaded into the document</a:t>
            </a:r>
          </a:p>
          <a:p>
            <a:pPr lvl="0" indent="0" marL="0">
              <a:buNone/>
            </a:pPr>
            <a:r>
              <a:rPr/>
              <a:t>Possible to include additional files (</a:t>
            </a:r>
            <a:r>
              <a:rPr>
                <a:latin typeface="Courier"/>
              </a:rPr>
              <a:t>content.qmd</a:t>
            </a:r>
            <a:r>
              <a:rPr/>
              <a:t>, images…)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rixpress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Write code in </a:t>
            </a:r>
            <a:r>
              <a:rPr>
                <a:latin typeface="Courier"/>
              </a:rPr>
              <a:t>gen-pipeline.R</a:t>
            </a:r>
            <a:r>
              <a:rPr/>
              <a:t> and build pipeline using </a:t>
            </a:r>
            <a:r>
              <a:rPr>
                <a:latin typeface="Courier"/>
              </a:rPr>
              <a:t>rxp_make()</a:t>
            </a:r>
          </a:p>
          <a:p>
            <a:pPr lvl="0"/>
            <a:r>
              <a:rPr/>
              <a:t>Inspect outputs using </a:t>
            </a:r>
            <a:r>
              <a:rPr>
                <a:latin typeface="Courier"/>
              </a:rPr>
              <a:t>rxp_inspect()</a:t>
            </a:r>
          </a:p>
          <a:p>
            <a:pPr lvl="0"/>
            <a:r>
              <a:rPr/>
              <a:t>View outputs using </a:t>
            </a:r>
            <a:r>
              <a:rPr>
                <a:latin typeface="Courier"/>
              </a:rPr>
              <a:t>rxp_read()</a:t>
            </a:r>
            <a:r>
              <a:rPr/>
              <a:t> (load them using </a:t>
            </a:r>
            <a:r>
              <a:rPr>
                <a:latin typeface="Courier"/>
              </a:rPr>
              <a:t>rxp_load()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Transfer with JSON (or other universal format)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Advantage: avoids using </a:t>
            </a:r>
            <a:r>
              <a:rPr>
                <a:latin typeface="Courier"/>
              </a:rPr>
              <a:t>reticulate</a:t>
            </a:r>
          </a:p>
          <a:p>
            <a:pPr lvl="0"/>
            <a:r>
              <a:rPr/>
              <a:t>Add a Python serialization function: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def</a:t>
            </a:r>
            <a:r>
              <a:rPr>
                <a:solidFill>
                  <a:srgbClr val="003B4F"/>
                </a:solidFill>
                <a:latin typeface="Courier"/>
              </a:rPr>
              <a:t> serialize_to_json(pl_df, path):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with</a:t>
            </a:r>
            <a:r>
              <a:rPr>
                <a:solidFill>
                  <a:srgbClr val="003B4F"/>
                </a:solidFill>
                <a:latin typeface="Courier"/>
              </a:rPr>
              <a:t> open(path, </a:t>
            </a:r>
            <a:r>
              <a:rPr>
                <a:solidFill>
                  <a:srgbClr val="20794D"/>
                </a:solidFill>
                <a:latin typeface="Courier"/>
              </a:rPr>
              <a:t>'w'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f: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f.write(pl_df.write_json())</a:t>
            </a:r>
          </a:p>
          <a:p>
            <a:pPr lvl="0"/>
            <a:r>
              <a:rPr/>
              <a:t>And on the R side: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rxp_r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expr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my_fun</a:t>
            </a:r>
            <a:r>
              <a:rPr>
                <a:solidFill>
                  <a:srgbClr val="003B4F"/>
                </a:solidFill>
                <a:latin typeface="Courier"/>
              </a:rPr>
              <a:t>(data),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unserialize_function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"jsonlite::fromJSON"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Interactive 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</a:t>
            </a:r>
            <a:r>
              <a:rPr>
                <a:latin typeface="Courier"/>
              </a:rPr>
              <a:t>scripts/rixpress_demo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learn more: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Repository GitHub</a:t>
            </a:r>
          </a:p>
          <a:p>
            <a:pPr lvl="0"/>
            <a:r>
              <a:rPr>
                <a:hlinkClick r:id="rId3"/>
              </a:rPr>
              <a:t>Site web</a:t>
            </a:r>
          </a:p>
          <a:p>
            <a:pPr lvl="0"/>
            <a:r>
              <a:rPr>
                <a:hlinkClick r:id="rId4"/>
              </a:rPr>
              <a:t>Repository d’exemples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questions:</a:t>
            </a:r>
          </a:p>
          <a:p>
            <a:pPr lvl="0"/>
            <a:r>
              <a:rPr/>
              <a:t>bruno@brodrigues.co</a:t>
            </a:r>
          </a:p>
          <a:p>
            <a:pPr lvl="0"/>
            <a:r>
              <a:rPr/>
              <a:t>Twitter : </a:t>
            </a:r>
            <a:r>
              <a:rPr>
                <a:hlinkClick r:id="rId2"/>
              </a:rPr>
              <a:t>@brodriguesco</a:t>
            </a:r>
          </a:p>
          <a:p>
            <a:pPr lvl="0"/>
            <a:r>
              <a:rPr/>
              <a:t>Mastodon : </a:t>
            </a:r>
            <a:r>
              <a:rPr>
                <a:hlinkClick r:id="rId3"/>
              </a:rPr>
              <a:t>@brodriguesco@fosstodon.org</a:t>
            </a:r>
          </a:p>
          <a:p>
            <a:pPr lvl="0"/>
            <a:r>
              <a:rPr/>
              <a:t>Blog : </a:t>
            </a:r>
            <a:r>
              <a:rPr>
                <a:hlinkClick r:id="rId4"/>
              </a:rPr>
              <a:t>www.brodrigues.co</a:t>
            </a:r>
          </a:p>
          <a:p>
            <a:pPr lvl="0"/>
            <a:r>
              <a:rPr/>
              <a:t>Livre : </a:t>
            </a:r>
            <a:r>
              <a:rPr>
                <a:hlinkClick r:id="rId5"/>
              </a:rPr>
              <a:t>www.raps-with-r.dev</a:t>
            </a:r>
          </a:p>
          <a:p>
            <a:pPr lvl="0"/>
            <a:r>
              <a:rPr/>
              <a:t>rix : </a:t>
            </a:r>
            <a:r>
              <a:rPr>
                <a:hlinkClick r:id="rId6"/>
              </a:rPr>
              <a:t>https://docs.ropensci.org/rix</a:t>
            </a:r>
          </a:p>
          <a:p>
            <a:pPr lvl="0"/>
            <a:r>
              <a:rPr/>
              <a:t>rixpress : </a:t>
            </a:r>
            <a:r>
              <a:rPr>
                <a:hlinkClick r:id="rId7"/>
              </a:rPr>
              <a:t>https://b-rodrigues.github.io/rixpress/</a:t>
            </a:r>
          </a:p>
          <a:p>
            <a:pPr lvl="0" indent="0" marL="0">
              <a:buNone/>
            </a:pPr>
            <a:r>
              <a:rPr/>
              <a:t>Thanks!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Reproducible environments and pipelines with {rix} and {rixpress}</dc:title>
  <dc:creator>Bruno Rodrigues</dc:creator>
  <cp:keywords/>
  <dcterms:created xsi:type="dcterms:W3CDTF">1980-01-01T00:00:00Z</dcterms:created>
  <dcterms:modified xsi:type="dcterms:W3CDTF">1980-01-01T00:00:00Z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xecute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